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4020800" cy="8229600"/>
  <p:notesSz cx="6858000" cy="9144000"/>
  <p:defaultTextStyle>
    <a:defPPr>
      <a:defRPr lang="en-US"/>
    </a:defPPr>
    <a:lvl1pPr marL="0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1pPr>
    <a:lvl2pPr marL="534010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2pPr>
    <a:lvl3pPr marL="1068019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3pPr>
    <a:lvl4pPr marL="1602029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4pPr>
    <a:lvl5pPr marL="2136038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5pPr>
    <a:lvl6pPr marL="2670048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6pPr>
    <a:lvl7pPr marL="3204058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7pPr>
    <a:lvl8pPr marL="3738067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8pPr>
    <a:lvl9pPr marL="4272077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F00"/>
    <a:srgbClr val="E3191B"/>
    <a:srgbClr val="984EA3"/>
    <a:srgbClr val="377E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9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2600" y="1346836"/>
            <a:ext cx="10515600" cy="2865120"/>
          </a:xfrm>
        </p:spPr>
        <p:txBody>
          <a:bodyPr anchor="b"/>
          <a:lstStyle>
            <a:lvl1pPr algn="ctr">
              <a:defRPr sz="69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2600" y="4322446"/>
            <a:ext cx="10515600" cy="1986914"/>
          </a:xfrm>
        </p:spPr>
        <p:txBody>
          <a:bodyPr/>
          <a:lstStyle>
            <a:lvl1pPr marL="0" indent="0" algn="ctr">
              <a:buNone/>
              <a:defRPr sz="2760"/>
            </a:lvl1pPr>
            <a:lvl2pPr marL="525780" indent="0" algn="ctr">
              <a:buNone/>
              <a:defRPr sz="2300"/>
            </a:lvl2pPr>
            <a:lvl3pPr marL="1051560" indent="0" algn="ctr">
              <a:buNone/>
              <a:defRPr sz="2070"/>
            </a:lvl3pPr>
            <a:lvl4pPr marL="1577340" indent="0" algn="ctr">
              <a:buNone/>
              <a:defRPr sz="1840"/>
            </a:lvl4pPr>
            <a:lvl5pPr marL="2103120" indent="0" algn="ctr">
              <a:buNone/>
              <a:defRPr sz="1840"/>
            </a:lvl5pPr>
            <a:lvl6pPr marL="2628900" indent="0" algn="ctr">
              <a:buNone/>
              <a:defRPr sz="1840"/>
            </a:lvl6pPr>
            <a:lvl7pPr marL="3154680" indent="0" algn="ctr">
              <a:buNone/>
              <a:defRPr sz="1840"/>
            </a:lvl7pPr>
            <a:lvl8pPr marL="3680460" indent="0" algn="ctr">
              <a:buNone/>
              <a:defRPr sz="1840"/>
            </a:lvl8pPr>
            <a:lvl9pPr marL="4206240" indent="0" algn="ctr">
              <a:buNone/>
              <a:defRPr sz="1840"/>
            </a:lvl9pPr>
          </a:lstStyle>
          <a:p>
            <a:r>
              <a:rPr lang="fr-FR" smtClean="0"/>
              <a:t>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683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60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628" y="2051686"/>
            <a:ext cx="12092940" cy="3423284"/>
          </a:xfrm>
        </p:spPr>
        <p:txBody>
          <a:bodyPr anchor="b"/>
          <a:lstStyle>
            <a:lvl1pPr>
              <a:defRPr sz="69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56628" y="5507356"/>
            <a:ext cx="12092940" cy="1800224"/>
          </a:xfrm>
        </p:spPr>
        <p:txBody>
          <a:bodyPr/>
          <a:lstStyle>
            <a:lvl1pPr marL="0" indent="0">
              <a:buNone/>
              <a:defRPr sz="2760">
                <a:solidFill>
                  <a:schemeClr val="tx1">
                    <a:tint val="75000"/>
                  </a:schemeClr>
                </a:solidFill>
              </a:defRPr>
            </a:lvl1pPr>
            <a:lvl2pPr marL="52578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051560" indent="0">
              <a:buNone/>
              <a:defRPr sz="2070">
                <a:solidFill>
                  <a:schemeClr val="tx1">
                    <a:tint val="75000"/>
                  </a:schemeClr>
                </a:solidFill>
              </a:defRPr>
            </a:lvl3pPr>
            <a:lvl4pPr marL="157734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4pPr>
            <a:lvl5pPr marL="210312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5pPr>
            <a:lvl6pPr marL="262890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6pPr>
            <a:lvl7pPr marL="315468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7pPr>
            <a:lvl8pPr marL="368046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8pPr>
            <a:lvl9pPr marL="420624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07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3930" y="2190750"/>
            <a:ext cx="5958840" cy="5221606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98030" y="2190750"/>
            <a:ext cx="5958840" cy="5221606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861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756" y="438150"/>
            <a:ext cx="12092940" cy="1590676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5757" y="2017396"/>
            <a:ext cx="5931455" cy="988694"/>
          </a:xfrm>
        </p:spPr>
        <p:txBody>
          <a:bodyPr anchor="b"/>
          <a:lstStyle>
            <a:lvl1pPr marL="0" indent="0">
              <a:buNone/>
              <a:defRPr sz="2760" b="1"/>
            </a:lvl1pPr>
            <a:lvl2pPr marL="525780" indent="0">
              <a:buNone/>
              <a:defRPr sz="2300" b="1"/>
            </a:lvl2pPr>
            <a:lvl3pPr marL="1051560" indent="0">
              <a:buNone/>
              <a:defRPr sz="2070" b="1"/>
            </a:lvl3pPr>
            <a:lvl4pPr marL="1577340" indent="0">
              <a:buNone/>
              <a:defRPr sz="1840" b="1"/>
            </a:lvl4pPr>
            <a:lvl5pPr marL="2103120" indent="0">
              <a:buNone/>
              <a:defRPr sz="1840" b="1"/>
            </a:lvl5pPr>
            <a:lvl6pPr marL="2628900" indent="0">
              <a:buNone/>
              <a:defRPr sz="1840" b="1"/>
            </a:lvl6pPr>
            <a:lvl7pPr marL="3154680" indent="0">
              <a:buNone/>
              <a:defRPr sz="1840" b="1"/>
            </a:lvl7pPr>
            <a:lvl8pPr marL="3680460" indent="0">
              <a:buNone/>
              <a:defRPr sz="1840" b="1"/>
            </a:lvl8pPr>
            <a:lvl9pPr marL="4206240" indent="0">
              <a:buNone/>
              <a:defRPr sz="184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5757" y="3006090"/>
            <a:ext cx="5931455" cy="4421506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098030" y="2017396"/>
            <a:ext cx="5960666" cy="988694"/>
          </a:xfrm>
        </p:spPr>
        <p:txBody>
          <a:bodyPr anchor="b"/>
          <a:lstStyle>
            <a:lvl1pPr marL="0" indent="0">
              <a:buNone/>
              <a:defRPr sz="2760" b="1"/>
            </a:lvl1pPr>
            <a:lvl2pPr marL="525780" indent="0">
              <a:buNone/>
              <a:defRPr sz="2300" b="1"/>
            </a:lvl2pPr>
            <a:lvl3pPr marL="1051560" indent="0">
              <a:buNone/>
              <a:defRPr sz="2070" b="1"/>
            </a:lvl3pPr>
            <a:lvl4pPr marL="1577340" indent="0">
              <a:buNone/>
              <a:defRPr sz="1840" b="1"/>
            </a:lvl4pPr>
            <a:lvl5pPr marL="2103120" indent="0">
              <a:buNone/>
              <a:defRPr sz="1840" b="1"/>
            </a:lvl5pPr>
            <a:lvl6pPr marL="2628900" indent="0">
              <a:buNone/>
              <a:defRPr sz="1840" b="1"/>
            </a:lvl6pPr>
            <a:lvl7pPr marL="3154680" indent="0">
              <a:buNone/>
              <a:defRPr sz="1840" b="1"/>
            </a:lvl7pPr>
            <a:lvl8pPr marL="3680460" indent="0">
              <a:buNone/>
              <a:defRPr sz="1840" b="1"/>
            </a:lvl8pPr>
            <a:lvl9pPr marL="4206240" indent="0">
              <a:buNone/>
              <a:defRPr sz="184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098030" y="3006090"/>
            <a:ext cx="5960666" cy="4421506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000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71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318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757" y="548640"/>
            <a:ext cx="4522073" cy="1920240"/>
          </a:xfrm>
        </p:spPr>
        <p:txBody>
          <a:bodyPr anchor="b"/>
          <a:lstStyle>
            <a:lvl1pPr>
              <a:defRPr sz="368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60666" y="1184911"/>
            <a:ext cx="7098030" cy="5848350"/>
          </a:xfrm>
        </p:spPr>
        <p:txBody>
          <a:bodyPr/>
          <a:lstStyle>
            <a:lvl1pPr>
              <a:defRPr sz="3680"/>
            </a:lvl1pPr>
            <a:lvl2pPr>
              <a:defRPr sz="3220"/>
            </a:lvl2pPr>
            <a:lvl3pPr>
              <a:defRPr sz="276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65757" y="2468880"/>
            <a:ext cx="4522073" cy="4573906"/>
          </a:xfrm>
        </p:spPr>
        <p:txBody>
          <a:bodyPr/>
          <a:lstStyle>
            <a:lvl1pPr marL="0" indent="0">
              <a:buNone/>
              <a:defRPr sz="1840"/>
            </a:lvl1pPr>
            <a:lvl2pPr marL="525780" indent="0">
              <a:buNone/>
              <a:defRPr sz="1610"/>
            </a:lvl2pPr>
            <a:lvl3pPr marL="1051560" indent="0">
              <a:buNone/>
              <a:defRPr sz="1380"/>
            </a:lvl3pPr>
            <a:lvl4pPr marL="1577340" indent="0">
              <a:buNone/>
              <a:defRPr sz="1150"/>
            </a:lvl4pPr>
            <a:lvl5pPr marL="2103120" indent="0">
              <a:buNone/>
              <a:defRPr sz="1150"/>
            </a:lvl5pPr>
            <a:lvl6pPr marL="2628900" indent="0">
              <a:buNone/>
              <a:defRPr sz="1150"/>
            </a:lvl6pPr>
            <a:lvl7pPr marL="3154680" indent="0">
              <a:buNone/>
              <a:defRPr sz="1150"/>
            </a:lvl7pPr>
            <a:lvl8pPr marL="3680460" indent="0">
              <a:buNone/>
              <a:defRPr sz="1150"/>
            </a:lvl8pPr>
            <a:lvl9pPr marL="4206240" indent="0">
              <a:buNone/>
              <a:defRPr sz="115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414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757" y="548640"/>
            <a:ext cx="4522073" cy="1920240"/>
          </a:xfrm>
        </p:spPr>
        <p:txBody>
          <a:bodyPr anchor="b"/>
          <a:lstStyle>
            <a:lvl1pPr>
              <a:defRPr sz="368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960666" y="1184911"/>
            <a:ext cx="7098030" cy="5848350"/>
          </a:xfrm>
        </p:spPr>
        <p:txBody>
          <a:bodyPr anchor="t"/>
          <a:lstStyle>
            <a:lvl1pPr marL="0" indent="0">
              <a:buNone/>
              <a:defRPr sz="3680"/>
            </a:lvl1pPr>
            <a:lvl2pPr marL="525780" indent="0">
              <a:buNone/>
              <a:defRPr sz="3220"/>
            </a:lvl2pPr>
            <a:lvl3pPr marL="1051560" indent="0">
              <a:buNone/>
              <a:defRPr sz="2760"/>
            </a:lvl3pPr>
            <a:lvl4pPr marL="1577340" indent="0">
              <a:buNone/>
              <a:defRPr sz="2300"/>
            </a:lvl4pPr>
            <a:lvl5pPr marL="2103120" indent="0">
              <a:buNone/>
              <a:defRPr sz="2300"/>
            </a:lvl5pPr>
            <a:lvl6pPr marL="2628900" indent="0">
              <a:buNone/>
              <a:defRPr sz="2300"/>
            </a:lvl6pPr>
            <a:lvl7pPr marL="3154680" indent="0">
              <a:buNone/>
              <a:defRPr sz="2300"/>
            </a:lvl7pPr>
            <a:lvl8pPr marL="3680460" indent="0">
              <a:buNone/>
              <a:defRPr sz="2300"/>
            </a:lvl8pPr>
            <a:lvl9pPr marL="4206240" indent="0">
              <a:buNone/>
              <a:defRPr sz="2300"/>
            </a:lvl9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65757" y="2468880"/>
            <a:ext cx="4522073" cy="4573906"/>
          </a:xfrm>
        </p:spPr>
        <p:txBody>
          <a:bodyPr/>
          <a:lstStyle>
            <a:lvl1pPr marL="0" indent="0">
              <a:buNone/>
              <a:defRPr sz="1840"/>
            </a:lvl1pPr>
            <a:lvl2pPr marL="525780" indent="0">
              <a:buNone/>
              <a:defRPr sz="1610"/>
            </a:lvl2pPr>
            <a:lvl3pPr marL="1051560" indent="0">
              <a:buNone/>
              <a:defRPr sz="1380"/>
            </a:lvl3pPr>
            <a:lvl4pPr marL="1577340" indent="0">
              <a:buNone/>
              <a:defRPr sz="1150"/>
            </a:lvl4pPr>
            <a:lvl5pPr marL="2103120" indent="0">
              <a:buNone/>
              <a:defRPr sz="1150"/>
            </a:lvl5pPr>
            <a:lvl6pPr marL="2628900" indent="0">
              <a:buNone/>
              <a:defRPr sz="1150"/>
            </a:lvl6pPr>
            <a:lvl7pPr marL="3154680" indent="0">
              <a:buNone/>
              <a:defRPr sz="1150"/>
            </a:lvl7pPr>
            <a:lvl8pPr marL="3680460" indent="0">
              <a:buNone/>
              <a:defRPr sz="1150"/>
            </a:lvl8pPr>
            <a:lvl9pPr marL="4206240" indent="0">
              <a:buNone/>
              <a:defRPr sz="115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0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6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33635" y="438150"/>
            <a:ext cx="3023235" cy="697420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63930" y="438150"/>
            <a:ext cx="8894445" cy="6974206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436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63930" y="438150"/>
            <a:ext cx="1209294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930" y="2190750"/>
            <a:ext cx="1209294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63930" y="7627621"/>
            <a:ext cx="315468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04CBE9-D9B1-4A49-9D6E-53882BEFF763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4390" y="7627621"/>
            <a:ext cx="473202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2190" y="7627621"/>
            <a:ext cx="315468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954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51560" rtl="0" eaLnBrk="1" latinLnBrk="0" hangingPunct="1">
        <a:lnSpc>
          <a:spcPct val="90000"/>
        </a:lnSpc>
        <a:spcBef>
          <a:spcPct val="0"/>
        </a:spcBef>
        <a:buNone/>
        <a:defRPr sz="50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2890" indent="-262890" algn="l" defTabSz="1051560" rtl="0" eaLnBrk="1" latinLnBrk="0" hangingPunct="1">
        <a:lnSpc>
          <a:spcPct val="90000"/>
        </a:lnSpc>
        <a:spcBef>
          <a:spcPts val="1150"/>
        </a:spcBef>
        <a:buFont typeface="Arial" panose="020B0604020202020204" pitchFamily="34" charset="0"/>
        <a:buChar char="•"/>
        <a:defRPr sz="3220" kern="1200">
          <a:solidFill>
            <a:schemeClr val="tx1"/>
          </a:solidFill>
          <a:latin typeface="+mn-lt"/>
          <a:ea typeface="+mn-ea"/>
          <a:cs typeface="+mn-cs"/>
        </a:defRPr>
      </a:lvl1pPr>
      <a:lvl2pPr marL="78867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760" kern="1200">
          <a:solidFill>
            <a:schemeClr val="tx1"/>
          </a:solidFill>
          <a:latin typeface="+mn-lt"/>
          <a:ea typeface="+mn-ea"/>
          <a:cs typeface="+mn-cs"/>
        </a:defRPr>
      </a:lvl2pPr>
      <a:lvl3pPr marL="131445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84023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4pPr>
      <a:lvl5pPr marL="236601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5pPr>
      <a:lvl6pPr marL="289179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6pPr>
      <a:lvl7pPr marL="341757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7pPr>
      <a:lvl8pPr marL="394335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8pPr>
      <a:lvl9pPr marL="446913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1pPr>
      <a:lvl2pPr marL="52578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2pPr>
      <a:lvl3pPr marL="105156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3pPr>
      <a:lvl4pPr marL="157734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4pPr>
      <a:lvl5pPr marL="210312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5pPr>
      <a:lvl6pPr marL="262890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6pPr>
      <a:lvl7pPr marL="315468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7pPr>
      <a:lvl8pPr marL="368046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8pPr>
      <a:lvl9pPr marL="420624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à coins arrondis 7"/>
          <p:cNvSpPr/>
          <p:nvPr/>
        </p:nvSpPr>
        <p:spPr>
          <a:xfrm>
            <a:off x="5892224" y="1098327"/>
            <a:ext cx="2186885" cy="371392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 smtClean="0">
                <a:solidFill>
                  <a:schemeClr val="bg1"/>
                </a:solidFill>
              </a:rPr>
              <a:t>i</a:t>
            </a:r>
            <a:r>
              <a:rPr lang="en-US" dirty="0" smtClean="0">
                <a:solidFill>
                  <a:schemeClr val="bg1"/>
                </a:solidFill>
              </a:rPr>
              <a:t>) Publications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Rectangle à coins arrondis 9"/>
          <p:cNvSpPr/>
          <p:nvPr/>
        </p:nvSpPr>
        <p:spPr>
          <a:xfrm>
            <a:off x="8561974" y="4921387"/>
            <a:ext cx="1639229" cy="34568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</a:rPr>
              <a:t>iii) Legislation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1" name="Rectangle à coins arrondis 10"/>
          <p:cNvSpPr/>
          <p:nvPr/>
        </p:nvSpPr>
        <p:spPr>
          <a:xfrm>
            <a:off x="2533876" y="3667600"/>
            <a:ext cx="1639229" cy="34568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v) Interest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Rectangle à coins arrondis 11"/>
          <p:cNvSpPr/>
          <p:nvPr/>
        </p:nvSpPr>
        <p:spPr>
          <a:xfrm>
            <a:off x="2533876" y="5156011"/>
            <a:ext cx="1639229" cy="34568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vi) Support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Rectangle à coins arrondis 12"/>
          <p:cNvSpPr/>
          <p:nvPr/>
        </p:nvSpPr>
        <p:spPr>
          <a:xfrm>
            <a:off x="5998117" y="6346042"/>
            <a:ext cx="1639229" cy="34568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iv) Action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5892224" y="142884"/>
            <a:ext cx="25361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publications </a:t>
            </a:r>
            <a:r>
              <a:rPr lang="en-US" sz="1600" i="1" dirty="0" smtClean="0"/>
              <a:t>(fine-tuned </a:t>
            </a:r>
            <a:r>
              <a:rPr lang="en-US" sz="1600" i="1" dirty="0"/>
              <a:t>classification </a:t>
            </a:r>
            <a:r>
              <a:rPr lang="en-US" sz="1600" i="1" dirty="0" smtClean="0"/>
              <a:t>LLM predictions)</a:t>
            </a:r>
            <a:endParaRPr lang="en-US" sz="1600" i="1" dirty="0"/>
          </a:p>
        </p:txBody>
      </p:sp>
      <p:sp>
        <p:nvSpPr>
          <p:cNvPr id="20" name="ZoneTexte 19"/>
          <p:cNvSpPr txBox="1"/>
          <p:nvPr/>
        </p:nvSpPr>
        <p:spPr>
          <a:xfrm>
            <a:off x="10395680" y="4961256"/>
            <a:ext cx="2251814" cy="1323439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national legislation documents with ORO keyword matches (FAOLEX + ECOLEX databases)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10952175" y="2546841"/>
            <a:ext cx="22518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non-binding policy documents with ORO keyword matches (FAOLEX + ECOLEX databases)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533928" y="3416858"/>
            <a:ext cx="19277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social media posts returned from ORO keyword searches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553893" y="4888962"/>
            <a:ext cx="19277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social media posts + likes with positive sentiments returned from ORO keyword searches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7235400" y="1602242"/>
            <a:ext cx="2730868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tractability </a:t>
            </a:r>
            <a:r>
              <a:rPr lang="en-US" dirty="0"/>
              <a:t>of the </a:t>
            </a:r>
            <a:r>
              <a:rPr lang="en-US" dirty="0" smtClean="0"/>
              <a:t>problem is researched</a:t>
            </a:r>
            <a:endParaRPr lang="en-US" dirty="0"/>
          </a:p>
        </p:txBody>
      </p:sp>
      <p:sp>
        <p:nvSpPr>
          <p:cNvPr id="25" name="ZoneTexte 24"/>
          <p:cNvSpPr txBox="1"/>
          <p:nvPr/>
        </p:nvSpPr>
        <p:spPr>
          <a:xfrm>
            <a:off x="8987445" y="3163424"/>
            <a:ext cx="1957646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Policy is formed (non-binding)</a:t>
            </a:r>
            <a:endParaRPr lang="en-US" dirty="0"/>
          </a:p>
        </p:txBody>
      </p:sp>
      <p:sp>
        <p:nvSpPr>
          <p:cNvPr id="26" name="ZoneTexte 25"/>
          <p:cNvSpPr txBox="1"/>
          <p:nvPr/>
        </p:nvSpPr>
        <p:spPr>
          <a:xfrm>
            <a:off x="8558643" y="5359768"/>
            <a:ext cx="1929645" cy="1386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Outputs/ decisions of acting agencies (binding)</a:t>
            </a:r>
            <a:endParaRPr lang="en-US" dirty="0"/>
          </a:p>
        </p:txBody>
      </p:sp>
      <p:sp>
        <p:nvSpPr>
          <p:cNvPr id="27" name="ZoneTexte 26"/>
          <p:cNvSpPr txBox="1"/>
          <p:nvPr/>
        </p:nvSpPr>
        <p:spPr>
          <a:xfrm>
            <a:off x="5916984" y="6825292"/>
            <a:ext cx="2359413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Compliance by target groups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4817314" y="1823451"/>
            <a:ext cx="1397156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Research on impacts</a:t>
            </a:r>
            <a:endParaRPr lang="en-US" dirty="0"/>
          </a:p>
        </p:txBody>
      </p:sp>
      <p:sp>
        <p:nvSpPr>
          <p:cNvPr id="29" name="ZoneTexte 28"/>
          <p:cNvSpPr txBox="1"/>
          <p:nvPr/>
        </p:nvSpPr>
        <p:spPr>
          <a:xfrm>
            <a:off x="2468733" y="4071447"/>
            <a:ext cx="1864727" cy="415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Public interest</a:t>
            </a:r>
            <a:endParaRPr lang="en-US" dirty="0"/>
          </a:p>
        </p:txBody>
      </p:sp>
      <p:sp>
        <p:nvSpPr>
          <p:cNvPr id="30" name="Rectangle à coins arrondis 29"/>
          <p:cNvSpPr/>
          <p:nvPr/>
        </p:nvSpPr>
        <p:spPr>
          <a:xfrm>
            <a:off x="6784946" y="2082509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ectangle à coins arrondis 30"/>
          <p:cNvSpPr/>
          <p:nvPr/>
        </p:nvSpPr>
        <p:spPr>
          <a:xfrm>
            <a:off x="8355277" y="3093113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à coins arrondis 31"/>
          <p:cNvSpPr/>
          <p:nvPr/>
        </p:nvSpPr>
        <p:spPr>
          <a:xfrm>
            <a:off x="7953834" y="4986202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à coins arrondis 32"/>
          <p:cNvSpPr/>
          <p:nvPr/>
        </p:nvSpPr>
        <p:spPr>
          <a:xfrm>
            <a:off x="6587084" y="5764344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5" name="Rectangle à coins arrondis 34"/>
          <p:cNvSpPr/>
          <p:nvPr/>
        </p:nvSpPr>
        <p:spPr>
          <a:xfrm>
            <a:off x="5253592" y="2763575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5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ZoneTexte 35"/>
          <p:cNvSpPr txBox="1"/>
          <p:nvPr/>
        </p:nvSpPr>
        <p:spPr>
          <a:xfrm>
            <a:off x="5916984" y="7693888"/>
            <a:ext cx="1731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 smtClean="0"/>
              <a:t>Various metrics</a:t>
            </a:r>
            <a:endParaRPr lang="en-US" sz="1600" i="1" dirty="0"/>
          </a:p>
        </p:txBody>
      </p:sp>
      <p:sp>
        <p:nvSpPr>
          <p:cNvPr id="38" name="Rectangle à coins arrondis 37"/>
          <p:cNvSpPr/>
          <p:nvPr/>
        </p:nvSpPr>
        <p:spPr>
          <a:xfrm>
            <a:off x="827497" y="1057133"/>
            <a:ext cx="291095" cy="291095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ZoneTexte 38"/>
          <p:cNvSpPr txBox="1"/>
          <p:nvPr/>
        </p:nvSpPr>
        <p:spPr>
          <a:xfrm>
            <a:off x="1225685" y="1058718"/>
            <a:ext cx="130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Node</a:t>
            </a:r>
            <a:endParaRPr lang="en-US" sz="1800" dirty="0"/>
          </a:p>
        </p:txBody>
      </p:sp>
      <p:sp>
        <p:nvSpPr>
          <p:cNvPr id="43" name="ZoneTexte 42"/>
          <p:cNvSpPr txBox="1"/>
          <p:nvPr/>
        </p:nvSpPr>
        <p:spPr>
          <a:xfrm>
            <a:off x="1161653" y="1859702"/>
            <a:ext cx="902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Metric</a:t>
            </a:r>
            <a:endParaRPr lang="en-US" sz="1800" dirty="0"/>
          </a:p>
        </p:txBody>
      </p:sp>
      <p:cxnSp>
        <p:nvCxnSpPr>
          <p:cNvPr id="55" name="Connecteur droit avec flèche 54"/>
          <p:cNvCxnSpPr/>
          <p:nvPr/>
        </p:nvCxnSpPr>
        <p:spPr>
          <a:xfrm>
            <a:off x="7127599" y="2425162"/>
            <a:ext cx="1286468" cy="726741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/>
          <p:cNvCxnSpPr/>
          <p:nvPr/>
        </p:nvCxnSpPr>
        <p:spPr>
          <a:xfrm flipH="1">
            <a:off x="8154556" y="3494556"/>
            <a:ext cx="401443" cy="149164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/>
          <p:cNvCxnSpPr/>
          <p:nvPr/>
        </p:nvCxnSpPr>
        <p:spPr>
          <a:xfrm flipH="1">
            <a:off x="6929737" y="5328855"/>
            <a:ext cx="1082887" cy="49427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/>
          <p:cNvCxnSpPr/>
          <p:nvPr/>
        </p:nvCxnSpPr>
        <p:spPr>
          <a:xfrm flipH="1" flipV="1">
            <a:off x="5454314" y="3165018"/>
            <a:ext cx="1191560" cy="265811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 flipV="1">
            <a:off x="5596245" y="2283231"/>
            <a:ext cx="1188701" cy="53913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/>
          <p:cNvCxnSpPr/>
          <p:nvPr/>
        </p:nvCxnSpPr>
        <p:spPr>
          <a:xfrm flipV="1">
            <a:off x="747985" y="1538292"/>
            <a:ext cx="398187" cy="8768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/>
          <p:cNvSpPr txBox="1"/>
          <p:nvPr/>
        </p:nvSpPr>
        <p:spPr>
          <a:xfrm>
            <a:off x="1225685" y="1448940"/>
            <a:ext cx="941418" cy="373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Edge</a:t>
            </a:r>
            <a:endParaRPr lang="en-US" sz="1800" dirty="0"/>
          </a:p>
        </p:txBody>
      </p:sp>
      <p:sp>
        <p:nvSpPr>
          <p:cNvPr id="77" name="Rectangle à coins arrondis 76"/>
          <p:cNvSpPr/>
          <p:nvPr/>
        </p:nvSpPr>
        <p:spPr>
          <a:xfrm>
            <a:off x="9047229" y="2666827"/>
            <a:ext cx="1639229" cy="34568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ii) Policy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8" name="Rectangle à coins arrondis 77"/>
          <p:cNvSpPr/>
          <p:nvPr/>
        </p:nvSpPr>
        <p:spPr>
          <a:xfrm>
            <a:off x="4516907" y="3670004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79" name="Rectangle à coins arrondis 78"/>
          <p:cNvSpPr/>
          <p:nvPr/>
        </p:nvSpPr>
        <p:spPr>
          <a:xfrm>
            <a:off x="4693166" y="5094231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80" name="ZoneTexte 79"/>
          <p:cNvSpPr txBox="1"/>
          <p:nvPr/>
        </p:nvSpPr>
        <p:spPr>
          <a:xfrm>
            <a:off x="2448180" y="5603885"/>
            <a:ext cx="1864727" cy="415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Public support</a:t>
            </a:r>
            <a:endParaRPr lang="en-US" dirty="0"/>
          </a:p>
        </p:txBody>
      </p:sp>
      <p:sp>
        <p:nvSpPr>
          <p:cNvPr id="81" name="ZoneTexte 80"/>
          <p:cNvSpPr txBox="1"/>
          <p:nvPr/>
        </p:nvSpPr>
        <p:spPr>
          <a:xfrm>
            <a:off x="781494" y="463968"/>
            <a:ext cx="984885" cy="4158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Legend</a:t>
            </a:r>
            <a:endParaRPr lang="en-US" b="1" dirty="0"/>
          </a:p>
        </p:txBody>
      </p:sp>
      <p:sp>
        <p:nvSpPr>
          <p:cNvPr id="41" name="Rectangle à coins arrondis 40"/>
          <p:cNvSpPr/>
          <p:nvPr/>
        </p:nvSpPr>
        <p:spPr>
          <a:xfrm>
            <a:off x="821547" y="1857227"/>
            <a:ext cx="291095" cy="291095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939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à coins arrondis 7"/>
          <p:cNvSpPr/>
          <p:nvPr/>
        </p:nvSpPr>
        <p:spPr>
          <a:xfrm>
            <a:off x="5892224" y="1098327"/>
            <a:ext cx="2186885" cy="371392"/>
          </a:xfrm>
          <a:prstGeom prst="roundRect">
            <a:avLst/>
          </a:prstGeom>
          <a:solidFill>
            <a:srgbClr val="377EB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Publications</a:t>
            </a:r>
          </a:p>
        </p:txBody>
      </p:sp>
      <p:sp>
        <p:nvSpPr>
          <p:cNvPr id="10" name="Rectangle à coins arrondis 9"/>
          <p:cNvSpPr/>
          <p:nvPr/>
        </p:nvSpPr>
        <p:spPr>
          <a:xfrm>
            <a:off x="8561974" y="4921387"/>
            <a:ext cx="1639229" cy="345688"/>
          </a:xfrm>
          <a:prstGeom prst="roundRect">
            <a:avLst/>
          </a:prstGeom>
          <a:solidFill>
            <a:srgbClr val="984E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Legislation</a:t>
            </a:r>
          </a:p>
        </p:txBody>
      </p:sp>
      <p:sp>
        <p:nvSpPr>
          <p:cNvPr id="11" name="Rectangle à coins arrondis 10"/>
          <p:cNvSpPr/>
          <p:nvPr/>
        </p:nvSpPr>
        <p:spPr>
          <a:xfrm>
            <a:off x="2533876" y="3667600"/>
            <a:ext cx="1639229" cy="345688"/>
          </a:xfrm>
          <a:prstGeom prst="roundRect">
            <a:avLst/>
          </a:prstGeom>
          <a:solidFill>
            <a:srgbClr val="FF7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Interest</a:t>
            </a:r>
          </a:p>
        </p:txBody>
      </p:sp>
      <p:sp>
        <p:nvSpPr>
          <p:cNvPr id="12" name="Rectangle à coins arrondis 11"/>
          <p:cNvSpPr/>
          <p:nvPr/>
        </p:nvSpPr>
        <p:spPr>
          <a:xfrm>
            <a:off x="2533876" y="5156011"/>
            <a:ext cx="1639229" cy="345688"/>
          </a:xfrm>
          <a:prstGeom prst="roundRect">
            <a:avLst/>
          </a:prstGeom>
          <a:solidFill>
            <a:srgbClr val="FF7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Support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5998117" y="6346042"/>
            <a:ext cx="1639229" cy="345688"/>
          </a:xfrm>
          <a:prstGeom prst="roundRect">
            <a:avLst/>
          </a:prstGeom>
          <a:solidFill>
            <a:srgbClr val="E3191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Action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5892224" y="142884"/>
            <a:ext cx="25361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publications </a:t>
            </a:r>
            <a:r>
              <a:rPr lang="en-US" sz="1600" i="1" dirty="0" smtClean="0"/>
              <a:t>(fine-tuned </a:t>
            </a:r>
            <a:r>
              <a:rPr lang="en-US" sz="1600" i="1" dirty="0"/>
              <a:t>classification </a:t>
            </a:r>
            <a:r>
              <a:rPr lang="en-US" sz="1600" i="1" dirty="0" smtClean="0"/>
              <a:t>LLM predictions)</a:t>
            </a:r>
            <a:endParaRPr lang="en-US" sz="1600" i="1" dirty="0"/>
          </a:p>
        </p:txBody>
      </p:sp>
      <p:sp>
        <p:nvSpPr>
          <p:cNvPr id="20" name="ZoneTexte 19"/>
          <p:cNvSpPr txBox="1"/>
          <p:nvPr/>
        </p:nvSpPr>
        <p:spPr>
          <a:xfrm>
            <a:off x="10395680" y="4961256"/>
            <a:ext cx="2251814" cy="1323439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national legislation documents with ORO keyword matches (FAOLEX + ECOLEX databases)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10952175" y="2546841"/>
            <a:ext cx="22518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non-binding policy documents with ORO keyword matches (FAOLEX + ECOLEX databases)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533928" y="3416858"/>
            <a:ext cx="19277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social media posts returned from ORO keyword searches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553893" y="4888962"/>
            <a:ext cx="19277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social media posts + likes with positive sentiments returned from ORO keyword searches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7235400" y="1602242"/>
            <a:ext cx="2730868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tractability </a:t>
            </a:r>
            <a:r>
              <a:rPr lang="en-US" dirty="0"/>
              <a:t>of the </a:t>
            </a:r>
            <a:r>
              <a:rPr lang="en-US" dirty="0" smtClean="0"/>
              <a:t>problem is researched</a:t>
            </a:r>
            <a:endParaRPr lang="en-US" dirty="0"/>
          </a:p>
        </p:txBody>
      </p:sp>
      <p:sp>
        <p:nvSpPr>
          <p:cNvPr id="25" name="ZoneTexte 24"/>
          <p:cNvSpPr txBox="1"/>
          <p:nvPr/>
        </p:nvSpPr>
        <p:spPr>
          <a:xfrm>
            <a:off x="8987445" y="3163424"/>
            <a:ext cx="1957646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Policy is formed (non-binding)</a:t>
            </a:r>
            <a:endParaRPr lang="en-US" dirty="0"/>
          </a:p>
        </p:txBody>
      </p:sp>
      <p:sp>
        <p:nvSpPr>
          <p:cNvPr id="26" name="ZoneTexte 25"/>
          <p:cNvSpPr txBox="1"/>
          <p:nvPr/>
        </p:nvSpPr>
        <p:spPr>
          <a:xfrm>
            <a:off x="8558643" y="5359768"/>
            <a:ext cx="1929645" cy="1386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Outputs/ decisions of acting agencies (binding)</a:t>
            </a:r>
            <a:endParaRPr lang="en-US" dirty="0"/>
          </a:p>
        </p:txBody>
      </p:sp>
      <p:sp>
        <p:nvSpPr>
          <p:cNvPr id="27" name="ZoneTexte 26"/>
          <p:cNvSpPr txBox="1"/>
          <p:nvPr/>
        </p:nvSpPr>
        <p:spPr>
          <a:xfrm>
            <a:off x="5916984" y="6825292"/>
            <a:ext cx="2359413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Compliance by target groups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4817314" y="1823451"/>
            <a:ext cx="1397156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Research on impacts</a:t>
            </a:r>
            <a:endParaRPr lang="en-US" dirty="0"/>
          </a:p>
        </p:txBody>
      </p:sp>
      <p:sp>
        <p:nvSpPr>
          <p:cNvPr id="29" name="ZoneTexte 28"/>
          <p:cNvSpPr txBox="1"/>
          <p:nvPr/>
        </p:nvSpPr>
        <p:spPr>
          <a:xfrm>
            <a:off x="2468733" y="4071447"/>
            <a:ext cx="1864727" cy="415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Public interest</a:t>
            </a:r>
            <a:endParaRPr lang="en-US" dirty="0"/>
          </a:p>
        </p:txBody>
      </p:sp>
      <p:sp>
        <p:nvSpPr>
          <p:cNvPr id="30" name="Rectangle à coins arrondis 29"/>
          <p:cNvSpPr/>
          <p:nvPr/>
        </p:nvSpPr>
        <p:spPr>
          <a:xfrm>
            <a:off x="6784946" y="2082509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377E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ectangle à coins arrondis 30"/>
          <p:cNvSpPr/>
          <p:nvPr/>
        </p:nvSpPr>
        <p:spPr>
          <a:xfrm>
            <a:off x="8355277" y="3093113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984E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à coins arrondis 31"/>
          <p:cNvSpPr/>
          <p:nvPr/>
        </p:nvSpPr>
        <p:spPr>
          <a:xfrm>
            <a:off x="7953834" y="4986202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984E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à coins arrondis 32"/>
          <p:cNvSpPr/>
          <p:nvPr/>
        </p:nvSpPr>
        <p:spPr>
          <a:xfrm>
            <a:off x="6587084" y="5764344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E319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5" name="Rectangle à coins arrondis 34"/>
          <p:cNvSpPr/>
          <p:nvPr/>
        </p:nvSpPr>
        <p:spPr>
          <a:xfrm>
            <a:off x="5253592" y="2763575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377EB8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5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ZoneTexte 35"/>
          <p:cNvSpPr txBox="1"/>
          <p:nvPr/>
        </p:nvSpPr>
        <p:spPr>
          <a:xfrm>
            <a:off x="5916984" y="7693888"/>
            <a:ext cx="1731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 smtClean="0"/>
              <a:t>Various metrics</a:t>
            </a:r>
            <a:endParaRPr lang="en-US" sz="1600" i="1" dirty="0"/>
          </a:p>
        </p:txBody>
      </p:sp>
      <p:sp>
        <p:nvSpPr>
          <p:cNvPr id="38" name="Rectangle à coins arrondis 37"/>
          <p:cNvSpPr/>
          <p:nvPr/>
        </p:nvSpPr>
        <p:spPr>
          <a:xfrm>
            <a:off x="827497" y="1057133"/>
            <a:ext cx="291095" cy="291095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ZoneTexte 38"/>
          <p:cNvSpPr txBox="1"/>
          <p:nvPr/>
        </p:nvSpPr>
        <p:spPr>
          <a:xfrm>
            <a:off x="1225685" y="1058718"/>
            <a:ext cx="130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Node</a:t>
            </a:r>
            <a:endParaRPr lang="en-US" sz="1800" dirty="0"/>
          </a:p>
        </p:txBody>
      </p:sp>
      <p:sp>
        <p:nvSpPr>
          <p:cNvPr id="43" name="ZoneTexte 42"/>
          <p:cNvSpPr txBox="1"/>
          <p:nvPr/>
        </p:nvSpPr>
        <p:spPr>
          <a:xfrm>
            <a:off x="1161653" y="1859702"/>
            <a:ext cx="902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Metric</a:t>
            </a:r>
            <a:endParaRPr lang="en-US" sz="1800" dirty="0"/>
          </a:p>
        </p:txBody>
      </p:sp>
      <p:cxnSp>
        <p:nvCxnSpPr>
          <p:cNvPr id="55" name="Connecteur droit avec flèche 54"/>
          <p:cNvCxnSpPr/>
          <p:nvPr/>
        </p:nvCxnSpPr>
        <p:spPr>
          <a:xfrm>
            <a:off x="7127599" y="2425162"/>
            <a:ext cx="1286468" cy="726741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/>
          <p:cNvCxnSpPr/>
          <p:nvPr/>
        </p:nvCxnSpPr>
        <p:spPr>
          <a:xfrm flipH="1">
            <a:off x="8154556" y="3494556"/>
            <a:ext cx="401443" cy="149164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/>
          <p:cNvCxnSpPr/>
          <p:nvPr/>
        </p:nvCxnSpPr>
        <p:spPr>
          <a:xfrm flipH="1">
            <a:off x="6929737" y="5328855"/>
            <a:ext cx="1082887" cy="49427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/>
          <p:cNvCxnSpPr/>
          <p:nvPr/>
        </p:nvCxnSpPr>
        <p:spPr>
          <a:xfrm flipH="1" flipV="1">
            <a:off x="5454314" y="3165018"/>
            <a:ext cx="1191560" cy="265811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 flipV="1">
            <a:off x="5596245" y="2283231"/>
            <a:ext cx="1188701" cy="53913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/>
          <p:cNvCxnSpPr/>
          <p:nvPr/>
        </p:nvCxnSpPr>
        <p:spPr>
          <a:xfrm flipV="1">
            <a:off x="747985" y="1538292"/>
            <a:ext cx="398187" cy="8768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/>
          <p:cNvSpPr txBox="1"/>
          <p:nvPr/>
        </p:nvSpPr>
        <p:spPr>
          <a:xfrm>
            <a:off x="1225685" y="1448940"/>
            <a:ext cx="941418" cy="373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Edge</a:t>
            </a:r>
            <a:endParaRPr lang="en-US" sz="1800" dirty="0"/>
          </a:p>
        </p:txBody>
      </p:sp>
      <p:sp>
        <p:nvSpPr>
          <p:cNvPr id="77" name="Rectangle à coins arrondis 76"/>
          <p:cNvSpPr/>
          <p:nvPr/>
        </p:nvSpPr>
        <p:spPr>
          <a:xfrm>
            <a:off x="9047229" y="2666827"/>
            <a:ext cx="1639229" cy="345688"/>
          </a:xfrm>
          <a:prstGeom prst="roundRect">
            <a:avLst/>
          </a:prstGeom>
          <a:solidFill>
            <a:srgbClr val="984E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Policy</a:t>
            </a:r>
          </a:p>
        </p:txBody>
      </p:sp>
      <p:sp>
        <p:nvSpPr>
          <p:cNvPr id="78" name="Rectangle à coins arrondis 77"/>
          <p:cNvSpPr/>
          <p:nvPr/>
        </p:nvSpPr>
        <p:spPr>
          <a:xfrm>
            <a:off x="4516907" y="3670004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7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79" name="Rectangle à coins arrondis 78"/>
          <p:cNvSpPr/>
          <p:nvPr/>
        </p:nvSpPr>
        <p:spPr>
          <a:xfrm>
            <a:off x="4693166" y="5094231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7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80" name="ZoneTexte 79"/>
          <p:cNvSpPr txBox="1"/>
          <p:nvPr/>
        </p:nvSpPr>
        <p:spPr>
          <a:xfrm>
            <a:off x="2448180" y="5603885"/>
            <a:ext cx="1864727" cy="415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Public support</a:t>
            </a:r>
            <a:endParaRPr lang="en-US" dirty="0"/>
          </a:p>
        </p:txBody>
      </p:sp>
      <p:sp>
        <p:nvSpPr>
          <p:cNvPr id="81" name="ZoneTexte 80"/>
          <p:cNvSpPr txBox="1"/>
          <p:nvPr/>
        </p:nvSpPr>
        <p:spPr>
          <a:xfrm>
            <a:off x="781494" y="463968"/>
            <a:ext cx="984885" cy="4158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Legend</a:t>
            </a:r>
            <a:endParaRPr lang="en-US" b="1" dirty="0"/>
          </a:p>
        </p:txBody>
      </p:sp>
      <p:sp>
        <p:nvSpPr>
          <p:cNvPr id="41" name="Rectangle à coins arrondis 40"/>
          <p:cNvSpPr/>
          <p:nvPr/>
        </p:nvSpPr>
        <p:spPr>
          <a:xfrm>
            <a:off x="821547" y="1857227"/>
            <a:ext cx="291095" cy="29109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6185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254</Words>
  <Application>Microsoft Office PowerPoint</Application>
  <PresentationFormat>Personnalisé</PresentationFormat>
  <Paragraphs>60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Devi Veytia</dc:creator>
  <cp:lastModifiedBy>Devi Veytia</cp:lastModifiedBy>
  <cp:revision>10</cp:revision>
  <cp:lastPrinted>2026-02-08T12:15:19Z</cp:lastPrinted>
  <dcterms:created xsi:type="dcterms:W3CDTF">2025-09-27T11:29:09Z</dcterms:created>
  <dcterms:modified xsi:type="dcterms:W3CDTF">2026-02-08T12:17:56Z</dcterms:modified>
</cp:coreProperties>
</file>