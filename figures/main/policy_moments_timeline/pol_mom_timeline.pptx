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12192000" cy="4572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2A400"/>
    <a:srgbClr val="E663F2"/>
    <a:srgbClr val="38B600"/>
    <a:srgbClr val="F8756B"/>
    <a:srgbClr val="03BFC5"/>
    <a:srgbClr val="DDA22B"/>
    <a:srgbClr val="E4B556"/>
    <a:srgbClr val="8E8AFE"/>
    <a:srgbClr val="00BD79"/>
    <a:srgbClr val="01AF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1" d="100"/>
          <a:sy n="61" d="100"/>
        </p:scale>
        <p:origin x="80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748242"/>
            <a:ext cx="9144000" cy="1591733"/>
          </a:xfrm>
        </p:spPr>
        <p:txBody>
          <a:bodyPr anchor="b"/>
          <a:lstStyle>
            <a:lvl1pPr algn="ctr">
              <a:defRPr sz="40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2401359"/>
            <a:ext cx="9144000" cy="1103841"/>
          </a:xfrm>
        </p:spPr>
        <p:txBody>
          <a:bodyPr/>
          <a:lstStyle>
            <a:lvl1pPr marL="0" indent="0" algn="ctr">
              <a:buNone/>
              <a:defRPr sz="1600"/>
            </a:lvl1pPr>
            <a:lvl2pPr marL="304815" indent="0" algn="ctr">
              <a:buNone/>
              <a:defRPr sz="1333"/>
            </a:lvl2pPr>
            <a:lvl3pPr marL="609630" indent="0" algn="ctr">
              <a:buNone/>
              <a:defRPr sz="1200"/>
            </a:lvl3pPr>
            <a:lvl4pPr marL="914446" indent="0" algn="ctr">
              <a:buNone/>
              <a:defRPr sz="1067"/>
            </a:lvl4pPr>
            <a:lvl5pPr marL="1219261" indent="0" algn="ctr">
              <a:buNone/>
              <a:defRPr sz="1067"/>
            </a:lvl5pPr>
            <a:lvl6pPr marL="1524076" indent="0" algn="ctr">
              <a:buNone/>
              <a:defRPr sz="1067"/>
            </a:lvl6pPr>
            <a:lvl7pPr marL="1828891" indent="0" algn="ctr">
              <a:buNone/>
              <a:defRPr sz="1067"/>
            </a:lvl7pPr>
            <a:lvl8pPr marL="2133707" indent="0" algn="ctr">
              <a:buNone/>
              <a:defRPr sz="1067"/>
            </a:lvl8pPr>
            <a:lvl9pPr marL="2438522" indent="0" algn="ctr">
              <a:buNone/>
              <a:defRPr sz="1067"/>
            </a:lvl9pPr>
          </a:lstStyle>
          <a:p>
            <a:r>
              <a:rPr lang="fr-FR" smtClean="0"/>
              <a:t>Modifier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98713-0E35-4040-B9F0-3DD5AEE4701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05B4C-BA4F-459B-B457-E238AAE279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660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98713-0E35-4040-B9F0-3DD5AEE4701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05B4C-BA4F-459B-B457-E238AAE279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573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139826"/>
            <a:ext cx="10515600" cy="1901825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3059642"/>
            <a:ext cx="10515600" cy="1000125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98713-0E35-4040-B9F0-3DD5AEE4701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05B4C-BA4F-459B-B457-E238AAE279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828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217083"/>
            <a:ext cx="5181600" cy="2900892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217083"/>
            <a:ext cx="5181600" cy="2900892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98713-0E35-4040-B9F0-3DD5AEE4701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05B4C-BA4F-459B-B457-E238AAE279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77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43417"/>
            <a:ext cx="10515600" cy="883709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120775"/>
            <a:ext cx="5157787" cy="549275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1670050"/>
            <a:ext cx="5157787" cy="2456392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120775"/>
            <a:ext cx="5183188" cy="549275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670050"/>
            <a:ext cx="5183188" cy="2456392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98713-0E35-4040-B9F0-3DD5AEE4701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05B4C-BA4F-459B-B457-E238AAE279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4606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98713-0E35-4040-B9F0-3DD5AEE4701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05B4C-BA4F-459B-B457-E238AAE279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9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98713-0E35-4040-B9F0-3DD5AEE4701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05B4C-BA4F-459B-B457-E238AAE279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945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304800"/>
            <a:ext cx="3932237" cy="1066800"/>
          </a:xfrm>
        </p:spPr>
        <p:txBody>
          <a:bodyPr anchor="b"/>
          <a:lstStyle>
            <a:lvl1pPr>
              <a:defRPr sz="2133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658284"/>
            <a:ext cx="6172200" cy="3249083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371600"/>
            <a:ext cx="3932237" cy="2541059"/>
          </a:xfrm>
        </p:spPr>
        <p:txBody>
          <a:bodyPr/>
          <a:lstStyle>
            <a:lvl1pPr marL="0" indent="0">
              <a:buNone/>
              <a:defRPr sz="1067"/>
            </a:lvl1pPr>
            <a:lvl2pPr marL="304815" indent="0">
              <a:buNone/>
              <a:defRPr sz="933"/>
            </a:lvl2pPr>
            <a:lvl3pPr marL="609630" indent="0">
              <a:buNone/>
              <a:defRPr sz="800"/>
            </a:lvl3pPr>
            <a:lvl4pPr marL="914446" indent="0">
              <a:buNone/>
              <a:defRPr sz="667"/>
            </a:lvl4pPr>
            <a:lvl5pPr marL="1219261" indent="0">
              <a:buNone/>
              <a:defRPr sz="667"/>
            </a:lvl5pPr>
            <a:lvl6pPr marL="1524076" indent="0">
              <a:buNone/>
              <a:defRPr sz="667"/>
            </a:lvl6pPr>
            <a:lvl7pPr marL="1828891" indent="0">
              <a:buNone/>
              <a:defRPr sz="667"/>
            </a:lvl7pPr>
            <a:lvl8pPr marL="2133707" indent="0">
              <a:buNone/>
              <a:defRPr sz="667"/>
            </a:lvl8pPr>
            <a:lvl9pPr marL="2438522" indent="0">
              <a:buNone/>
              <a:defRPr sz="667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98713-0E35-4040-B9F0-3DD5AEE4701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05B4C-BA4F-459B-B457-E238AAE279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7209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304800"/>
            <a:ext cx="3932237" cy="1066800"/>
          </a:xfrm>
        </p:spPr>
        <p:txBody>
          <a:bodyPr anchor="b"/>
          <a:lstStyle>
            <a:lvl1pPr>
              <a:defRPr sz="2133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658284"/>
            <a:ext cx="6172200" cy="3249083"/>
          </a:xfrm>
        </p:spPr>
        <p:txBody>
          <a:bodyPr anchor="t"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371600"/>
            <a:ext cx="3932237" cy="2541059"/>
          </a:xfrm>
        </p:spPr>
        <p:txBody>
          <a:bodyPr/>
          <a:lstStyle>
            <a:lvl1pPr marL="0" indent="0">
              <a:buNone/>
              <a:defRPr sz="1067"/>
            </a:lvl1pPr>
            <a:lvl2pPr marL="304815" indent="0">
              <a:buNone/>
              <a:defRPr sz="933"/>
            </a:lvl2pPr>
            <a:lvl3pPr marL="609630" indent="0">
              <a:buNone/>
              <a:defRPr sz="800"/>
            </a:lvl3pPr>
            <a:lvl4pPr marL="914446" indent="0">
              <a:buNone/>
              <a:defRPr sz="667"/>
            </a:lvl4pPr>
            <a:lvl5pPr marL="1219261" indent="0">
              <a:buNone/>
              <a:defRPr sz="667"/>
            </a:lvl5pPr>
            <a:lvl6pPr marL="1524076" indent="0">
              <a:buNone/>
              <a:defRPr sz="667"/>
            </a:lvl6pPr>
            <a:lvl7pPr marL="1828891" indent="0">
              <a:buNone/>
              <a:defRPr sz="667"/>
            </a:lvl7pPr>
            <a:lvl8pPr marL="2133707" indent="0">
              <a:buNone/>
              <a:defRPr sz="667"/>
            </a:lvl8pPr>
            <a:lvl9pPr marL="2438522" indent="0">
              <a:buNone/>
              <a:defRPr sz="667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98713-0E35-4040-B9F0-3DD5AEE4701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05B4C-BA4F-459B-B457-E238AAE279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476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98713-0E35-4040-B9F0-3DD5AEE4701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05B4C-BA4F-459B-B457-E238AAE279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638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243417"/>
            <a:ext cx="2628900" cy="387455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243417"/>
            <a:ext cx="7734300" cy="3874559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98713-0E35-4040-B9F0-3DD5AEE4701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05B4C-BA4F-459B-B457-E238AAE279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972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243417"/>
            <a:ext cx="10515600" cy="8837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217083"/>
            <a:ext cx="10515600" cy="29008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4237567"/>
            <a:ext cx="27432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198713-0E35-4040-B9F0-3DD5AEE47015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4237567"/>
            <a:ext cx="41148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4237567"/>
            <a:ext cx="27432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D05B4C-BA4F-459B-B457-E238AAE2795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/>
          <p:cNvSpPr/>
          <p:nvPr/>
        </p:nvSpPr>
        <p:spPr>
          <a:xfrm>
            <a:off x="7176161" y="0"/>
            <a:ext cx="1081995" cy="3724813"/>
          </a:xfrm>
          <a:prstGeom prst="rect">
            <a:avLst/>
          </a:prstGeom>
          <a:solidFill>
            <a:srgbClr val="03BFC5">
              <a:alpha val="5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6439673" y="11633"/>
            <a:ext cx="362040" cy="3713180"/>
          </a:xfrm>
          <a:prstGeom prst="rect">
            <a:avLst/>
          </a:prstGeom>
          <a:solidFill>
            <a:srgbClr val="F8756B">
              <a:alpha val="5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Connecteur droit 5"/>
          <p:cNvCxnSpPr/>
          <p:nvPr/>
        </p:nvCxnSpPr>
        <p:spPr>
          <a:xfrm>
            <a:off x="5623965" y="1408014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" y="3715349"/>
            <a:ext cx="12192000" cy="19829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20000"/>
                  <a:lumOff val="80000"/>
                </a:schemeClr>
              </a:gs>
              <a:gs pos="96000">
                <a:schemeClr val="accent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ZoneTexte 7"/>
          <p:cNvSpPr txBox="1"/>
          <p:nvPr/>
        </p:nvSpPr>
        <p:spPr>
          <a:xfrm>
            <a:off x="3204322" y="3922804"/>
            <a:ext cx="6833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2000</a:t>
            </a:r>
            <a:endParaRPr lang="en-US" dirty="0"/>
          </a:p>
        </p:txBody>
      </p:sp>
      <p:sp>
        <p:nvSpPr>
          <p:cNvPr id="9" name="ZoneTexte 8"/>
          <p:cNvSpPr txBox="1"/>
          <p:nvPr/>
        </p:nvSpPr>
        <p:spPr>
          <a:xfrm>
            <a:off x="6846682" y="3908705"/>
            <a:ext cx="6833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2010</a:t>
            </a:r>
            <a:endParaRPr lang="en-US" dirty="0"/>
          </a:p>
        </p:txBody>
      </p:sp>
      <p:sp>
        <p:nvSpPr>
          <p:cNvPr id="10" name="ZoneTexte 9"/>
          <p:cNvSpPr txBox="1"/>
          <p:nvPr/>
        </p:nvSpPr>
        <p:spPr>
          <a:xfrm>
            <a:off x="10489042" y="3908705"/>
            <a:ext cx="6833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2020</a:t>
            </a:r>
            <a:endParaRPr lang="en-US" dirty="0"/>
          </a:p>
        </p:txBody>
      </p:sp>
      <p:cxnSp>
        <p:nvCxnSpPr>
          <p:cNvPr id="12" name="Connecteur droit 11"/>
          <p:cNvCxnSpPr/>
          <p:nvPr/>
        </p:nvCxnSpPr>
        <p:spPr>
          <a:xfrm flipV="1">
            <a:off x="584200" y="0"/>
            <a:ext cx="0" cy="3715349"/>
          </a:xfrm>
          <a:prstGeom prst="line">
            <a:avLst/>
          </a:prstGeom>
          <a:ln w="38100">
            <a:solidFill>
              <a:srgbClr val="FE98D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/>
          <p:cNvCxnSpPr/>
          <p:nvPr/>
        </p:nvCxnSpPr>
        <p:spPr>
          <a:xfrm flipV="1">
            <a:off x="2421467" y="0"/>
            <a:ext cx="0" cy="3715349"/>
          </a:xfrm>
          <a:prstGeom prst="line">
            <a:avLst/>
          </a:prstGeom>
          <a:ln w="38100">
            <a:solidFill>
              <a:srgbClr val="8E8AFE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/>
          <p:cNvCxnSpPr/>
          <p:nvPr/>
        </p:nvCxnSpPr>
        <p:spPr>
          <a:xfrm flipV="1">
            <a:off x="5706533" y="-1"/>
            <a:ext cx="0" cy="3715349"/>
          </a:xfrm>
          <a:prstGeom prst="line">
            <a:avLst/>
          </a:prstGeom>
          <a:ln w="38100">
            <a:solidFill>
              <a:srgbClr val="E4B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/>
          <p:cNvCxnSpPr/>
          <p:nvPr/>
        </p:nvCxnSpPr>
        <p:spPr>
          <a:xfrm flipV="1">
            <a:off x="6438898" y="-8468"/>
            <a:ext cx="0" cy="3715349"/>
          </a:xfrm>
          <a:prstGeom prst="line">
            <a:avLst/>
          </a:prstGeom>
          <a:ln w="38100">
            <a:solidFill>
              <a:srgbClr val="F875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/>
          <p:cNvCxnSpPr/>
          <p:nvPr/>
        </p:nvCxnSpPr>
        <p:spPr>
          <a:xfrm flipV="1">
            <a:off x="7162978" y="0"/>
            <a:ext cx="0" cy="3715349"/>
          </a:xfrm>
          <a:prstGeom prst="line">
            <a:avLst/>
          </a:prstGeom>
          <a:ln w="38100">
            <a:solidFill>
              <a:srgbClr val="03BFC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/>
          <p:cNvCxnSpPr/>
          <p:nvPr/>
        </p:nvCxnSpPr>
        <p:spPr>
          <a:xfrm flipV="1">
            <a:off x="8630705" y="-2"/>
            <a:ext cx="0" cy="3715349"/>
          </a:xfrm>
          <a:prstGeom prst="line">
            <a:avLst/>
          </a:prstGeom>
          <a:ln w="38100">
            <a:solidFill>
              <a:srgbClr val="38B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/>
          <p:cNvCxnSpPr/>
          <p:nvPr/>
        </p:nvCxnSpPr>
        <p:spPr>
          <a:xfrm flipV="1">
            <a:off x="9019113" y="-3"/>
            <a:ext cx="0" cy="3715349"/>
          </a:xfrm>
          <a:prstGeom prst="line">
            <a:avLst/>
          </a:prstGeom>
          <a:ln w="38100">
            <a:solidFill>
              <a:srgbClr val="E663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/>
          <p:cNvCxnSpPr/>
          <p:nvPr/>
        </p:nvCxnSpPr>
        <p:spPr>
          <a:xfrm flipV="1">
            <a:off x="10100731" y="0"/>
            <a:ext cx="0" cy="3715349"/>
          </a:xfrm>
          <a:prstGeom prst="line">
            <a:avLst/>
          </a:prstGeom>
          <a:ln w="38100">
            <a:solidFill>
              <a:srgbClr val="01AFF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/>
          <p:cNvCxnSpPr/>
          <p:nvPr/>
        </p:nvCxnSpPr>
        <p:spPr>
          <a:xfrm flipV="1">
            <a:off x="10469988" y="-4"/>
            <a:ext cx="0" cy="3715349"/>
          </a:xfrm>
          <a:prstGeom prst="line">
            <a:avLst/>
          </a:prstGeom>
          <a:ln w="38100">
            <a:solidFill>
              <a:srgbClr val="00BD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/>
          <p:cNvCxnSpPr/>
          <p:nvPr/>
        </p:nvCxnSpPr>
        <p:spPr>
          <a:xfrm flipV="1">
            <a:off x="10842377" y="11637"/>
            <a:ext cx="0" cy="3715349"/>
          </a:xfrm>
          <a:prstGeom prst="line">
            <a:avLst/>
          </a:prstGeom>
          <a:ln w="38100">
            <a:solidFill>
              <a:srgbClr val="A2A4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ZoneTexte 22"/>
          <p:cNvSpPr txBox="1"/>
          <p:nvPr/>
        </p:nvSpPr>
        <p:spPr>
          <a:xfrm>
            <a:off x="5503333" y="4110335"/>
            <a:ext cx="1253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/>
              <a:t>Year</a:t>
            </a:r>
            <a:endParaRPr lang="en-US" sz="2400" dirty="0"/>
          </a:p>
        </p:txBody>
      </p:sp>
      <p:sp>
        <p:nvSpPr>
          <p:cNvPr id="24" name="Larme 23"/>
          <p:cNvSpPr/>
          <p:nvPr/>
        </p:nvSpPr>
        <p:spPr>
          <a:xfrm rot="8232473">
            <a:off x="29936" y="1267154"/>
            <a:ext cx="1143412" cy="1181042"/>
          </a:xfrm>
          <a:prstGeom prst="teardrop">
            <a:avLst/>
          </a:prstGeom>
          <a:solidFill>
            <a:srgbClr val="FE98D2"/>
          </a:solidFill>
          <a:ln w="34925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ZoneTexte 24"/>
          <p:cNvSpPr txBox="1"/>
          <p:nvPr/>
        </p:nvSpPr>
        <p:spPr>
          <a:xfrm>
            <a:off x="116778" y="1712980"/>
            <a:ext cx="995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UNFCCC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6" name="Larme 25"/>
          <p:cNvSpPr/>
          <p:nvPr/>
        </p:nvSpPr>
        <p:spPr>
          <a:xfrm rot="8232473">
            <a:off x="1860914" y="1340648"/>
            <a:ext cx="1143412" cy="1181042"/>
          </a:xfrm>
          <a:prstGeom prst="teardrop">
            <a:avLst/>
          </a:prstGeom>
          <a:solidFill>
            <a:srgbClr val="8E8AFE"/>
          </a:solidFill>
          <a:ln w="34925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ZoneTexte 26"/>
          <p:cNvSpPr txBox="1"/>
          <p:nvPr/>
        </p:nvSpPr>
        <p:spPr>
          <a:xfrm>
            <a:off x="1934780" y="1578585"/>
            <a:ext cx="995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Kyoto</a:t>
            </a:r>
          </a:p>
          <a:p>
            <a:pPr algn="ctr"/>
            <a:r>
              <a:rPr lang="en-US" dirty="0" smtClean="0">
                <a:solidFill>
                  <a:schemeClr val="bg1"/>
                </a:solidFill>
              </a:rPr>
              <a:t>Protocol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Larme 28"/>
          <p:cNvSpPr/>
          <p:nvPr/>
        </p:nvSpPr>
        <p:spPr>
          <a:xfrm rot="8232473">
            <a:off x="5167051" y="1952325"/>
            <a:ext cx="1143412" cy="1181042"/>
          </a:xfrm>
          <a:prstGeom prst="teardrop">
            <a:avLst/>
          </a:prstGeom>
          <a:solidFill>
            <a:srgbClr val="DDA22B"/>
          </a:solidFill>
          <a:ln>
            <a:solidFill>
              <a:srgbClr val="E4B55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ZoneTexte 29"/>
          <p:cNvSpPr txBox="1"/>
          <p:nvPr/>
        </p:nvSpPr>
        <p:spPr>
          <a:xfrm>
            <a:off x="5171440" y="2190262"/>
            <a:ext cx="10651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 smtClean="0">
                <a:solidFill>
                  <a:schemeClr val="bg1"/>
                </a:solidFill>
              </a:rPr>
              <a:t> Clean Development Mechanism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31" name="Larme 30"/>
          <p:cNvSpPr/>
          <p:nvPr/>
        </p:nvSpPr>
        <p:spPr>
          <a:xfrm rot="8232473">
            <a:off x="5867967" y="264721"/>
            <a:ext cx="1143412" cy="1181042"/>
          </a:xfrm>
          <a:prstGeom prst="teardrop">
            <a:avLst/>
          </a:prstGeom>
          <a:solidFill>
            <a:srgbClr val="F8756B"/>
          </a:solidFill>
          <a:ln>
            <a:solidFill>
              <a:srgbClr val="F8756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ZoneTexte 31"/>
          <p:cNvSpPr txBox="1"/>
          <p:nvPr/>
        </p:nvSpPr>
        <p:spPr>
          <a:xfrm>
            <a:off x="5872356" y="502658"/>
            <a:ext cx="10651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 2008/9</a:t>
            </a:r>
          </a:p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Financial</a:t>
            </a:r>
          </a:p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Crisis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3" name="Larme 32"/>
          <p:cNvSpPr/>
          <p:nvPr/>
        </p:nvSpPr>
        <p:spPr>
          <a:xfrm rot="8232473">
            <a:off x="6631132" y="1360896"/>
            <a:ext cx="1143412" cy="1181042"/>
          </a:xfrm>
          <a:prstGeom prst="teardrop">
            <a:avLst/>
          </a:prstGeom>
          <a:solidFill>
            <a:srgbClr val="03BFC5"/>
          </a:solidFill>
          <a:ln>
            <a:solidFill>
              <a:srgbClr val="03BFC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ZoneTexte 33"/>
          <p:cNvSpPr txBox="1"/>
          <p:nvPr/>
        </p:nvSpPr>
        <p:spPr>
          <a:xfrm>
            <a:off x="6635521" y="1598833"/>
            <a:ext cx="10651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 IMO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</a:rPr>
              <a:t>e</a:t>
            </a:r>
            <a:r>
              <a:rPr lang="en-US" sz="1600" dirty="0" smtClean="0">
                <a:solidFill>
                  <a:schemeClr val="bg1"/>
                </a:solidFill>
              </a:rPr>
              <a:t>fficiency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</a:rPr>
              <a:t>p</a:t>
            </a:r>
            <a:r>
              <a:rPr lang="en-US" sz="1600" dirty="0" smtClean="0">
                <a:solidFill>
                  <a:schemeClr val="bg1"/>
                </a:solidFill>
              </a:rPr>
              <a:t>olicies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5" name="Larme 34"/>
          <p:cNvSpPr/>
          <p:nvPr/>
        </p:nvSpPr>
        <p:spPr>
          <a:xfrm rot="8232473">
            <a:off x="8068677" y="193245"/>
            <a:ext cx="1143412" cy="1181042"/>
          </a:xfrm>
          <a:prstGeom prst="teardrop">
            <a:avLst/>
          </a:prstGeom>
          <a:solidFill>
            <a:srgbClr val="38B600"/>
          </a:solidFill>
          <a:ln>
            <a:solidFill>
              <a:srgbClr val="38B6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ZoneTexte 35"/>
          <p:cNvSpPr txBox="1"/>
          <p:nvPr/>
        </p:nvSpPr>
        <p:spPr>
          <a:xfrm>
            <a:off x="8103446" y="365136"/>
            <a:ext cx="10651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 smtClean="0">
                <a:solidFill>
                  <a:schemeClr val="bg1"/>
                </a:solidFill>
              </a:rPr>
              <a:t>European</a:t>
            </a:r>
          </a:p>
          <a:p>
            <a:pPr algn="ctr"/>
            <a:r>
              <a:rPr lang="en-US" sz="1200" dirty="0" smtClean="0">
                <a:solidFill>
                  <a:schemeClr val="bg1"/>
                </a:solidFill>
              </a:rPr>
              <a:t>2030 climate &amp; energy framework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37" name="Larme 36"/>
          <p:cNvSpPr/>
          <p:nvPr/>
        </p:nvSpPr>
        <p:spPr>
          <a:xfrm rot="8232473">
            <a:off x="8462117" y="1611917"/>
            <a:ext cx="1143412" cy="1181042"/>
          </a:xfrm>
          <a:prstGeom prst="teardrop">
            <a:avLst/>
          </a:prstGeom>
          <a:solidFill>
            <a:srgbClr val="E663F2"/>
          </a:solidFill>
          <a:ln>
            <a:solidFill>
              <a:srgbClr val="E663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ZoneTexte 37"/>
          <p:cNvSpPr txBox="1"/>
          <p:nvPr/>
        </p:nvSpPr>
        <p:spPr>
          <a:xfrm>
            <a:off x="8505485" y="1912718"/>
            <a:ext cx="10651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>
                <a:solidFill>
                  <a:schemeClr val="bg1"/>
                </a:solidFill>
              </a:rPr>
              <a:t>Paris Agreement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9" name="Larme 38"/>
          <p:cNvSpPr/>
          <p:nvPr/>
        </p:nvSpPr>
        <p:spPr>
          <a:xfrm rot="8232473">
            <a:off x="9539745" y="2246091"/>
            <a:ext cx="1143412" cy="1181042"/>
          </a:xfrm>
          <a:prstGeom prst="teardrop">
            <a:avLst/>
          </a:prstGeom>
          <a:solidFill>
            <a:srgbClr val="01AFF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ZoneTexte 39"/>
          <p:cNvSpPr txBox="1"/>
          <p:nvPr/>
        </p:nvSpPr>
        <p:spPr>
          <a:xfrm>
            <a:off x="9574514" y="2417982"/>
            <a:ext cx="10651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IPCC Special Reports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1" name="Larme 40"/>
          <p:cNvSpPr/>
          <p:nvPr/>
        </p:nvSpPr>
        <p:spPr>
          <a:xfrm rot="8232473">
            <a:off x="9917336" y="12807"/>
            <a:ext cx="1143412" cy="1181042"/>
          </a:xfrm>
          <a:prstGeom prst="teardrop">
            <a:avLst/>
          </a:prstGeom>
          <a:solidFill>
            <a:srgbClr val="00BD79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ZoneTexte 41"/>
          <p:cNvSpPr txBox="1"/>
          <p:nvPr/>
        </p:nvSpPr>
        <p:spPr>
          <a:xfrm>
            <a:off x="9959049" y="313769"/>
            <a:ext cx="10651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European Green Deal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3" name="Larme 42"/>
          <p:cNvSpPr/>
          <p:nvPr/>
        </p:nvSpPr>
        <p:spPr>
          <a:xfrm rot="8232473">
            <a:off x="10297437" y="1331485"/>
            <a:ext cx="1143412" cy="1181042"/>
          </a:xfrm>
          <a:prstGeom prst="teardrop">
            <a:avLst/>
          </a:prstGeom>
          <a:solidFill>
            <a:srgbClr val="A2A400"/>
          </a:solidFill>
          <a:ln>
            <a:solidFill>
              <a:srgbClr val="A2A4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ZoneTexte 43"/>
          <p:cNvSpPr txBox="1"/>
          <p:nvPr/>
        </p:nvSpPr>
        <p:spPr>
          <a:xfrm>
            <a:off x="10355885" y="1629618"/>
            <a:ext cx="1065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COVID-19 Pandemic</a:t>
            </a:r>
            <a:endParaRPr lang="en-US" sz="1600" dirty="0">
              <a:solidFill>
                <a:schemeClr val="bg1"/>
              </a:solidFill>
            </a:endParaRPr>
          </a:p>
        </p:txBody>
      </p:sp>
      <p:cxnSp>
        <p:nvCxnSpPr>
          <p:cNvPr id="48" name="Connecteur droit 47"/>
          <p:cNvCxnSpPr>
            <a:stCxn id="8" idx="0"/>
          </p:cNvCxnSpPr>
          <p:nvPr/>
        </p:nvCxnSpPr>
        <p:spPr>
          <a:xfrm flipV="1">
            <a:off x="3546019" y="-8467"/>
            <a:ext cx="6610" cy="393127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lèche droite 3"/>
          <p:cNvSpPr/>
          <p:nvPr/>
        </p:nvSpPr>
        <p:spPr>
          <a:xfrm rot="10800000">
            <a:off x="1216723" y="-8468"/>
            <a:ext cx="1862319" cy="1174137"/>
          </a:xfrm>
          <a:prstGeom prst="rightArrow">
            <a:avLst>
              <a:gd name="adj1" fmla="val 66242"/>
              <a:gd name="adj2" fmla="val 50580"/>
            </a:avLst>
          </a:prstGeom>
          <a:gradFill flip="none" rotWithShape="1">
            <a:gsLst>
              <a:gs pos="23000">
                <a:schemeClr val="accent1">
                  <a:lumMod val="5000"/>
                  <a:lumOff val="95000"/>
                </a:schemeClr>
              </a:gs>
              <a:gs pos="64000">
                <a:schemeClr val="bg2">
                  <a:lumMod val="90000"/>
                </a:schemeClr>
              </a:gs>
              <a:gs pos="78000">
                <a:schemeClr val="bg2">
                  <a:lumMod val="75000"/>
                </a:schemeClr>
              </a:gs>
              <a:gs pos="100000">
                <a:schemeClr val="bg2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à coins arrondis 2"/>
          <p:cNvSpPr/>
          <p:nvPr/>
        </p:nvSpPr>
        <p:spPr>
          <a:xfrm>
            <a:off x="1882668" y="264714"/>
            <a:ext cx="1660424" cy="64020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</a:rPr>
              <a:t>Before 2000</a:t>
            </a:r>
          </a:p>
          <a:p>
            <a:pPr algn="r"/>
            <a:r>
              <a:rPr lang="en-US" sz="1400" dirty="0">
                <a:solidFill>
                  <a:schemeClr val="tx1"/>
                </a:solidFill>
              </a:rPr>
              <a:t>(start of time series coverage)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3910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/>
          <p:cNvSpPr/>
          <p:nvPr/>
        </p:nvSpPr>
        <p:spPr>
          <a:xfrm>
            <a:off x="7176161" y="0"/>
            <a:ext cx="1081995" cy="3724813"/>
          </a:xfrm>
          <a:prstGeom prst="rect">
            <a:avLst/>
          </a:prstGeom>
          <a:solidFill>
            <a:srgbClr val="03BFC5">
              <a:alpha val="5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6439673" y="11633"/>
            <a:ext cx="362040" cy="3686053"/>
          </a:xfrm>
          <a:prstGeom prst="rect">
            <a:avLst/>
          </a:prstGeom>
          <a:solidFill>
            <a:srgbClr val="F8756B">
              <a:alpha val="5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Imag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" y="2160575"/>
            <a:ext cx="12210447" cy="2227533"/>
          </a:xfrm>
          <a:prstGeom prst="rect">
            <a:avLst/>
          </a:prstGeom>
        </p:spPr>
      </p:pic>
      <p:cxnSp>
        <p:nvCxnSpPr>
          <p:cNvPr id="6" name="Connecteur droit 5"/>
          <p:cNvCxnSpPr/>
          <p:nvPr/>
        </p:nvCxnSpPr>
        <p:spPr>
          <a:xfrm>
            <a:off x="5623965" y="1408014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8501" y="3715349"/>
            <a:ext cx="12153499" cy="154004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85000"/>
                </a:schemeClr>
              </a:gs>
              <a:gs pos="96000">
                <a:schemeClr val="bg2">
                  <a:lumMod val="10000"/>
                </a:schemeClr>
              </a:gs>
            </a:gsLst>
            <a:lin ang="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ZoneTexte 7"/>
          <p:cNvSpPr txBox="1"/>
          <p:nvPr/>
        </p:nvSpPr>
        <p:spPr>
          <a:xfrm>
            <a:off x="3204322" y="3922804"/>
            <a:ext cx="6833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2000</a:t>
            </a:r>
            <a:endParaRPr lang="en-US" dirty="0"/>
          </a:p>
        </p:txBody>
      </p:sp>
      <p:sp>
        <p:nvSpPr>
          <p:cNvPr id="9" name="ZoneTexte 8"/>
          <p:cNvSpPr txBox="1"/>
          <p:nvPr/>
        </p:nvSpPr>
        <p:spPr>
          <a:xfrm>
            <a:off x="6846682" y="3908705"/>
            <a:ext cx="6833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2010</a:t>
            </a:r>
            <a:endParaRPr lang="en-US" dirty="0"/>
          </a:p>
        </p:txBody>
      </p:sp>
      <p:sp>
        <p:nvSpPr>
          <p:cNvPr id="10" name="ZoneTexte 9"/>
          <p:cNvSpPr txBox="1"/>
          <p:nvPr/>
        </p:nvSpPr>
        <p:spPr>
          <a:xfrm>
            <a:off x="10489042" y="3908705"/>
            <a:ext cx="6833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2020</a:t>
            </a:r>
            <a:endParaRPr lang="en-US" dirty="0"/>
          </a:p>
        </p:txBody>
      </p:sp>
      <p:cxnSp>
        <p:nvCxnSpPr>
          <p:cNvPr id="12" name="Connecteur droit 11"/>
          <p:cNvCxnSpPr/>
          <p:nvPr/>
        </p:nvCxnSpPr>
        <p:spPr>
          <a:xfrm flipV="1">
            <a:off x="584200" y="0"/>
            <a:ext cx="0" cy="3715349"/>
          </a:xfrm>
          <a:prstGeom prst="line">
            <a:avLst/>
          </a:prstGeom>
          <a:ln w="38100">
            <a:solidFill>
              <a:srgbClr val="FE98D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/>
          <p:cNvCxnSpPr/>
          <p:nvPr/>
        </p:nvCxnSpPr>
        <p:spPr>
          <a:xfrm flipV="1">
            <a:off x="2421467" y="0"/>
            <a:ext cx="0" cy="3715349"/>
          </a:xfrm>
          <a:prstGeom prst="line">
            <a:avLst/>
          </a:prstGeom>
          <a:ln w="38100">
            <a:solidFill>
              <a:srgbClr val="8E8AF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/>
          <p:cNvCxnSpPr/>
          <p:nvPr/>
        </p:nvCxnSpPr>
        <p:spPr>
          <a:xfrm flipV="1">
            <a:off x="5706533" y="-1"/>
            <a:ext cx="0" cy="3715349"/>
          </a:xfrm>
          <a:prstGeom prst="line">
            <a:avLst/>
          </a:prstGeom>
          <a:ln w="38100">
            <a:solidFill>
              <a:srgbClr val="E4B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/>
          <p:cNvCxnSpPr/>
          <p:nvPr/>
        </p:nvCxnSpPr>
        <p:spPr>
          <a:xfrm flipV="1">
            <a:off x="6438898" y="-8468"/>
            <a:ext cx="0" cy="3715349"/>
          </a:xfrm>
          <a:prstGeom prst="line">
            <a:avLst/>
          </a:prstGeom>
          <a:ln w="38100">
            <a:solidFill>
              <a:srgbClr val="F875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/>
          <p:cNvCxnSpPr/>
          <p:nvPr/>
        </p:nvCxnSpPr>
        <p:spPr>
          <a:xfrm flipV="1">
            <a:off x="7162978" y="0"/>
            <a:ext cx="0" cy="3715349"/>
          </a:xfrm>
          <a:prstGeom prst="line">
            <a:avLst/>
          </a:prstGeom>
          <a:ln w="38100">
            <a:solidFill>
              <a:srgbClr val="03BFC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/>
          <p:cNvCxnSpPr/>
          <p:nvPr/>
        </p:nvCxnSpPr>
        <p:spPr>
          <a:xfrm flipV="1">
            <a:off x="8630705" y="-2"/>
            <a:ext cx="0" cy="3715349"/>
          </a:xfrm>
          <a:prstGeom prst="line">
            <a:avLst/>
          </a:prstGeom>
          <a:ln w="38100">
            <a:solidFill>
              <a:srgbClr val="38B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/>
          <p:cNvCxnSpPr/>
          <p:nvPr/>
        </p:nvCxnSpPr>
        <p:spPr>
          <a:xfrm flipV="1">
            <a:off x="9019113" y="-3"/>
            <a:ext cx="0" cy="3715349"/>
          </a:xfrm>
          <a:prstGeom prst="line">
            <a:avLst/>
          </a:prstGeom>
          <a:ln w="38100">
            <a:solidFill>
              <a:srgbClr val="E663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/>
          <p:cNvCxnSpPr/>
          <p:nvPr/>
        </p:nvCxnSpPr>
        <p:spPr>
          <a:xfrm flipV="1">
            <a:off x="10100731" y="0"/>
            <a:ext cx="0" cy="3715349"/>
          </a:xfrm>
          <a:prstGeom prst="line">
            <a:avLst/>
          </a:prstGeom>
          <a:ln w="38100">
            <a:solidFill>
              <a:srgbClr val="01AFF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/>
          <p:cNvCxnSpPr/>
          <p:nvPr/>
        </p:nvCxnSpPr>
        <p:spPr>
          <a:xfrm flipV="1">
            <a:off x="10469988" y="-4"/>
            <a:ext cx="0" cy="3715349"/>
          </a:xfrm>
          <a:prstGeom prst="line">
            <a:avLst/>
          </a:prstGeom>
          <a:ln w="38100">
            <a:solidFill>
              <a:srgbClr val="00BD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/>
          <p:cNvCxnSpPr/>
          <p:nvPr/>
        </p:nvCxnSpPr>
        <p:spPr>
          <a:xfrm flipV="1">
            <a:off x="10842377" y="11637"/>
            <a:ext cx="0" cy="3715349"/>
          </a:xfrm>
          <a:prstGeom prst="line">
            <a:avLst/>
          </a:prstGeom>
          <a:ln w="38100">
            <a:solidFill>
              <a:srgbClr val="A2A4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ZoneTexte 22"/>
          <p:cNvSpPr txBox="1"/>
          <p:nvPr/>
        </p:nvSpPr>
        <p:spPr>
          <a:xfrm>
            <a:off x="5503333" y="4110335"/>
            <a:ext cx="1253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/>
              <a:t>Year</a:t>
            </a:r>
            <a:endParaRPr lang="en-US" sz="2400" dirty="0"/>
          </a:p>
        </p:txBody>
      </p:sp>
      <p:sp>
        <p:nvSpPr>
          <p:cNvPr id="24" name="Larme 23"/>
          <p:cNvSpPr/>
          <p:nvPr/>
        </p:nvSpPr>
        <p:spPr>
          <a:xfrm rot="8232473">
            <a:off x="29998" y="263683"/>
            <a:ext cx="1143412" cy="1181042"/>
          </a:xfrm>
          <a:prstGeom prst="teardrop">
            <a:avLst/>
          </a:prstGeom>
          <a:solidFill>
            <a:srgbClr val="FE98D2"/>
          </a:solidFill>
          <a:ln>
            <a:solidFill>
              <a:srgbClr val="FE98D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ZoneTexte 24"/>
          <p:cNvSpPr txBox="1"/>
          <p:nvPr/>
        </p:nvSpPr>
        <p:spPr>
          <a:xfrm>
            <a:off x="116840" y="709509"/>
            <a:ext cx="995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UNFCCC</a:t>
            </a:r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47" name="Groupe 46"/>
          <p:cNvGrpSpPr/>
          <p:nvPr/>
        </p:nvGrpSpPr>
        <p:grpSpPr>
          <a:xfrm>
            <a:off x="1860914" y="1340648"/>
            <a:ext cx="1143412" cy="1181042"/>
            <a:chOff x="1860914" y="985043"/>
            <a:chExt cx="1143412" cy="1181042"/>
          </a:xfrm>
        </p:grpSpPr>
        <p:sp>
          <p:nvSpPr>
            <p:cNvPr id="26" name="Larme 25"/>
            <p:cNvSpPr/>
            <p:nvPr/>
          </p:nvSpPr>
          <p:spPr>
            <a:xfrm rot="8232473">
              <a:off x="1860914" y="985043"/>
              <a:ext cx="1143412" cy="1181042"/>
            </a:xfrm>
            <a:prstGeom prst="teardrop">
              <a:avLst/>
            </a:prstGeom>
            <a:solidFill>
              <a:srgbClr val="8E8AFE"/>
            </a:solidFill>
            <a:ln>
              <a:solidFill>
                <a:srgbClr val="8E8AF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ZoneTexte 26"/>
            <p:cNvSpPr txBox="1"/>
            <p:nvPr/>
          </p:nvSpPr>
          <p:spPr>
            <a:xfrm>
              <a:off x="1934780" y="1222980"/>
              <a:ext cx="99568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smtClean="0">
                  <a:solidFill>
                    <a:schemeClr val="bg1"/>
                  </a:solidFill>
                </a:rPr>
                <a:t>Kyoto</a:t>
              </a:r>
            </a:p>
            <a:p>
              <a:pPr algn="ctr"/>
              <a:r>
                <a:rPr lang="en-US" dirty="0" smtClean="0">
                  <a:solidFill>
                    <a:schemeClr val="bg1"/>
                  </a:solidFill>
                </a:rPr>
                <a:t>Protocol</a:t>
              </a:r>
              <a:endParaRPr lang="en-US" dirty="0">
                <a:solidFill>
                  <a:schemeClr val="bg1"/>
                </a:solidFill>
              </a:endParaRPr>
            </a:p>
          </p:txBody>
        </p:sp>
      </p:grpSp>
      <p:sp>
        <p:nvSpPr>
          <p:cNvPr id="29" name="Larme 28"/>
          <p:cNvSpPr/>
          <p:nvPr/>
        </p:nvSpPr>
        <p:spPr>
          <a:xfrm rot="8232473">
            <a:off x="5167051" y="1952325"/>
            <a:ext cx="1143412" cy="1181042"/>
          </a:xfrm>
          <a:prstGeom prst="teardrop">
            <a:avLst/>
          </a:prstGeom>
          <a:solidFill>
            <a:srgbClr val="E4B5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ZoneTexte 29"/>
          <p:cNvSpPr txBox="1"/>
          <p:nvPr/>
        </p:nvSpPr>
        <p:spPr>
          <a:xfrm>
            <a:off x="5171440" y="2190262"/>
            <a:ext cx="10651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 smtClean="0">
                <a:solidFill>
                  <a:schemeClr val="bg1"/>
                </a:solidFill>
              </a:rPr>
              <a:t> Clean Development Mechanism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31" name="Larme 30"/>
          <p:cNvSpPr/>
          <p:nvPr/>
        </p:nvSpPr>
        <p:spPr>
          <a:xfrm rot="8232473">
            <a:off x="5867967" y="264721"/>
            <a:ext cx="1143412" cy="1181042"/>
          </a:xfrm>
          <a:prstGeom prst="teardrop">
            <a:avLst/>
          </a:prstGeom>
          <a:solidFill>
            <a:srgbClr val="F8756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ZoneTexte 31"/>
          <p:cNvSpPr txBox="1"/>
          <p:nvPr/>
        </p:nvSpPr>
        <p:spPr>
          <a:xfrm>
            <a:off x="5872356" y="502658"/>
            <a:ext cx="10651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 2008/9</a:t>
            </a:r>
          </a:p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Financial</a:t>
            </a:r>
          </a:p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Crisis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3" name="Larme 32"/>
          <p:cNvSpPr/>
          <p:nvPr/>
        </p:nvSpPr>
        <p:spPr>
          <a:xfrm rot="8232473">
            <a:off x="6631132" y="1360896"/>
            <a:ext cx="1143412" cy="1181042"/>
          </a:xfrm>
          <a:prstGeom prst="teardrop">
            <a:avLst/>
          </a:prstGeom>
          <a:solidFill>
            <a:srgbClr val="03BFC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ZoneTexte 33"/>
          <p:cNvSpPr txBox="1"/>
          <p:nvPr/>
        </p:nvSpPr>
        <p:spPr>
          <a:xfrm>
            <a:off x="6635521" y="1598833"/>
            <a:ext cx="10651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 IMO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</a:rPr>
              <a:t>e</a:t>
            </a:r>
            <a:r>
              <a:rPr lang="en-US" sz="1600" dirty="0" smtClean="0">
                <a:solidFill>
                  <a:schemeClr val="bg1"/>
                </a:solidFill>
              </a:rPr>
              <a:t>fficiency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</a:rPr>
              <a:t>p</a:t>
            </a:r>
            <a:r>
              <a:rPr lang="en-US" sz="1600" dirty="0" smtClean="0">
                <a:solidFill>
                  <a:schemeClr val="bg1"/>
                </a:solidFill>
              </a:rPr>
              <a:t>olicies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5" name="Larme 34"/>
          <p:cNvSpPr/>
          <p:nvPr/>
        </p:nvSpPr>
        <p:spPr>
          <a:xfrm rot="8232473">
            <a:off x="8068677" y="193245"/>
            <a:ext cx="1143412" cy="1181042"/>
          </a:xfrm>
          <a:prstGeom prst="teardrop">
            <a:avLst/>
          </a:prstGeom>
          <a:solidFill>
            <a:srgbClr val="38B6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ZoneTexte 35"/>
          <p:cNvSpPr txBox="1"/>
          <p:nvPr/>
        </p:nvSpPr>
        <p:spPr>
          <a:xfrm>
            <a:off x="8103446" y="365136"/>
            <a:ext cx="10651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 smtClean="0">
                <a:solidFill>
                  <a:schemeClr val="bg1"/>
                </a:solidFill>
              </a:rPr>
              <a:t>European</a:t>
            </a:r>
          </a:p>
          <a:p>
            <a:pPr algn="ctr"/>
            <a:r>
              <a:rPr lang="en-US" sz="1200" dirty="0" smtClean="0">
                <a:solidFill>
                  <a:schemeClr val="bg1"/>
                </a:solidFill>
              </a:rPr>
              <a:t>2030 climate &amp; energy framework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37" name="Larme 36"/>
          <p:cNvSpPr/>
          <p:nvPr/>
        </p:nvSpPr>
        <p:spPr>
          <a:xfrm rot="8232473">
            <a:off x="8462117" y="1611917"/>
            <a:ext cx="1143412" cy="1181042"/>
          </a:xfrm>
          <a:prstGeom prst="teardrop">
            <a:avLst/>
          </a:prstGeom>
          <a:solidFill>
            <a:srgbClr val="E663F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ZoneTexte 37"/>
          <p:cNvSpPr txBox="1"/>
          <p:nvPr/>
        </p:nvSpPr>
        <p:spPr>
          <a:xfrm>
            <a:off x="8505485" y="1912718"/>
            <a:ext cx="10651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>
                <a:solidFill>
                  <a:schemeClr val="bg1"/>
                </a:solidFill>
              </a:rPr>
              <a:t>Paris Agreement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9" name="Larme 38"/>
          <p:cNvSpPr/>
          <p:nvPr/>
        </p:nvSpPr>
        <p:spPr>
          <a:xfrm rot="8232473">
            <a:off x="9539745" y="2246091"/>
            <a:ext cx="1143412" cy="1181042"/>
          </a:xfrm>
          <a:prstGeom prst="teardrop">
            <a:avLst/>
          </a:prstGeom>
          <a:solidFill>
            <a:srgbClr val="01AFF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ZoneTexte 39"/>
          <p:cNvSpPr txBox="1"/>
          <p:nvPr/>
        </p:nvSpPr>
        <p:spPr>
          <a:xfrm>
            <a:off x="9574514" y="2417982"/>
            <a:ext cx="10651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IPCC Special Reports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1" name="Larme 40"/>
          <p:cNvSpPr/>
          <p:nvPr/>
        </p:nvSpPr>
        <p:spPr>
          <a:xfrm rot="8232473">
            <a:off x="9917336" y="12807"/>
            <a:ext cx="1143412" cy="1181042"/>
          </a:xfrm>
          <a:prstGeom prst="teardrop">
            <a:avLst/>
          </a:prstGeom>
          <a:solidFill>
            <a:srgbClr val="00BD79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ZoneTexte 41"/>
          <p:cNvSpPr txBox="1"/>
          <p:nvPr/>
        </p:nvSpPr>
        <p:spPr>
          <a:xfrm>
            <a:off x="9959049" y="313769"/>
            <a:ext cx="10651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European Green Deal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3" name="Larme 42"/>
          <p:cNvSpPr/>
          <p:nvPr/>
        </p:nvSpPr>
        <p:spPr>
          <a:xfrm rot="8232473">
            <a:off x="10297437" y="1331485"/>
            <a:ext cx="1143412" cy="1181042"/>
          </a:xfrm>
          <a:prstGeom prst="teardrop">
            <a:avLst/>
          </a:prstGeom>
          <a:solidFill>
            <a:srgbClr val="A2A4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ZoneTexte 43"/>
          <p:cNvSpPr txBox="1"/>
          <p:nvPr/>
        </p:nvSpPr>
        <p:spPr>
          <a:xfrm>
            <a:off x="10355885" y="1629618"/>
            <a:ext cx="1065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chemeClr val="bg1"/>
                </a:solidFill>
              </a:rPr>
              <a:t>COVID-19 Pandemic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022491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79</Words>
  <Application>Microsoft Office PowerPoint</Application>
  <PresentationFormat>Personnalisé</PresentationFormat>
  <Paragraphs>42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Devi Veytia</dc:creator>
  <cp:lastModifiedBy>Devi Veytia</cp:lastModifiedBy>
  <cp:revision>10</cp:revision>
  <cp:lastPrinted>2025-11-10T17:03:41Z</cp:lastPrinted>
  <dcterms:created xsi:type="dcterms:W3CDTF">2025-11-10T15:39:10Z</dcterms:created>
  <dcterms:modified xsi:type="dcterms:W3CDTF">2025-11-11T17:58:09Z</dcterms:modified>
</cp:coreProperties>
</file>